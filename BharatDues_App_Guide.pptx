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320040"/>
            <a:ext cx="594360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4652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0" sz="1200">
                <a:solidFill>
                  <a:srgbClr val="C7C7C7"/>
                </a:solidFill>
                <a:latin typeface="Aptos"/>
              </a:rPr>
              <a:t>Bharat Dues • 2026-04-16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4200">
                <a:solidFill>
                  <a:srgbClr val="FFFFFF"/>
                </a:solidFill>
                <a:latin typeface="Aptos"/>
              </a:rPr>
              <a:t>Bharat Dues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874519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sz="2000">
                <a:solidFill>
                  <a:srgbClr val="C7C7C7"/>
                </a:solidFill>
                <a:latin typeface="Aptos"/>
              </a:rPr>
              <a:t>App guide: what it does, how it works, and key functions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4320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320040"/>
            <a:ext cx="594360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4652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0" sz="1200">
                <a:solidFill>
                  <a:srgbClr val="C7C7C7"/>
                </a:solidFill>
                <a:latin typeface="Aptos"/>
              </a:rPr>
              <a:t>Bharat Dues • 2026-04-16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11480"/>
            <a:ext cx="11704320" cy="777240"/>
          </a:xfrm>
          <a:prstGeom prst="rect">
            <a:avLst/>
          </a:prstGeom>
          <a:solidFill>
            <a:srgbClr val="1A1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600">
                <a:solidFill>
                  <a:srgbClr val="FFFFFF"/>
                </a:solidFill>
                <a:latin typeface="Aptos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What the app is (and who it is for)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How it works (real-time shared ledger)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Core functions: groups, expenses, balances, settlements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UPI + QR flow and payment confirmation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Analytics and activity history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320040"/>
            <a:ext cx="594360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4652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0" sz="1200">
                <a:solidFill>
                  <a:srgbClr val="C7C7C7"/>
                </a:solidFill>
                <a:latin typeface="Aptos"/>
              </a:rPr>
              <a:t>Bharat Dues • 2026-04-16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11480"/>
            <a:ext cx="11704320" cy="777240"/>
          </a:xfrm>
          <a:prstGeom prst="rect">
            <a:avLst/>
          </a:prstGeom>
          <a:solidFill>
            <a:srgbClr val="1A1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600">
                <a:solidFill>
                  <a:srgbClr val="FFFFFF"/>
                </a:solidFill>
                <a:latin typeface="Aptos"/>
              </a:rPr>
              <a:t>What is Bharat Dues?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A Splitwise-style shared expense tracker focused on UPI-first settlements in India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Designed for roommates, trips, friends, and any group with shared bills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Real-time sync: everyone sees the same group ledger instantly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0" sz="1400">
                <a:solidFill>
                  <a:srgbClr val="C7C7C7"/>
                </a:solidFill>
                <a:latin typeface="Aptos"/>
              </a:rPr>
              <a:t>Based on `README.md` and implemented in Flutter + Firebase.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320040"/>
            <a:ext cx="594360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4652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0" sz="1200">
                <a:solidFill>
                  <a:srgbClr val="C7C7C7"/>
                </a:solidFill>
                <a:latin typeface="Aptos"/>
              </a:rPr>
              <a:t>Bharat Dues • 2026-04-16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11480"/>
            <a:ext cx="11704320" cy="777240"/>
          </a:xfrm>
          <a:prstGeom prst="rect">
            <a:avLst/>
          </a:prstGeom>
          <a:solidFill>
            <a:srgbClr val="1A1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600">
                <a:solidFill>
                  <a:srgbClr val="FFFFFF"/>
                </a:solidFill>
                <a:latin typeface="Aptos"/>
              </a:rPr>
              <a:t>How it works (in simple terms)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Each group is stored in Firestore as a shared document: members + aggregated net balances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Expenses and settlements are stored in sub-collections and streamed live to every member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Balances are computed from expenses + confirmed settlements; “simplify debts” reduces transfers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0" sz="1400">
                <a:solidFill>
                  <a:srgbClr val="C7C7C7"/>
                </a:solidFill>
                <a:latin typeface="Aptos"/>
              </a:rPr>
              <a:t>See `lib/providers/app_state.dart` and `lib/utils/settlement_helper.dart`.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320040"/>
            <a:ext cx="594360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4652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0" sz="1200">
                <a:solidFill>
                  <a:srgbClr val="C7C7C7"/>
                </a:solidFill>
                <a:latin typeface="Aptos"/>
              </a:rPr>
              <a:t>Bharat Dues • 2026-04-16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11480"/>
            <a:ext cx="11704320" cy="777240"/>
          </a:xfrm>
          <a:prstGeom prst="rect">
            <a:avLst/>
          </a:prstGeom>
          <a:solidFill>
            <a:srgbClr val="1A1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600">
                <a:solidFill>
                  <a:srgbClr val="FFFFFF"/>
                </a:solidFill>
                <a:latin typeface="Aptos"/>
              </a:rPr>
              <a:t>Typical user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Sign in with Google (OTP flow exists but can be disabled)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Complete onboarding/profile guard if Firestore profile is missing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Set your UPI ID in Profile (recommended for one-tap settlements)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Create or join groups, then start adding expenses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0" sz="1400">
                <a:solidFill>
                  <a:srgbClr val="C7C7C7"/>
                </a:solidFill>
                <a:latin typeface="Aptos"/>
              </a:rPr>
              <a:t>Routing is handled in `lib/screens/app_shell.dart`.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320040"/>
            <a:ext cx="594360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4652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0" sz="1200">
                <a:solidFill>
                  <a:srgbClr val="C7C7C7"/>
                </a:solidFill>
                <a:latin typeface="Aptos"/>
              </a:rPr>
              <a:t>Bharat Dues • 2026-04-16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11480"/>
            <a:ext cx="11704320" cy="777240"/>
          </a:xfrm>
          <a:prstGeom prst="rect">
            <a:avLst/>
          </a:prstGeom>
          <a:solidFill>
            <a:srgbClr val="1A1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600">
                <a:solidFill>
                  <a:srgbClr val="FFFFFF"/>
                </a:solidFill>
                <a:latin typeface="Aptos"/>
              </a:rPr>
              <a:t>Home screen: your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Shows your overall net position: You owe vs You are owed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Lists your groups (and optionally 1-on-1 “Friends” groups via feature flag)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Quick actions: edit profile (UPI/phone), create a new group, sign 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0" sz="1400">
                <a:solidFill>
                  <a:srgbClr val="C7C7C7"/>
                </a:solidFill>
                <a:latin typeface="Aptos"/>
              </a:rPr>
              <a:t>See `lib/screens/home_screen.dart`.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320040"/>
            <a:ext cx="594360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4652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0" sz="1200">
                <a:solidFill>
                  <a:srgbClr val="C7C7C7"/>
                </a:solidFill>
                <a:latin typeface="Aptos"/>
              </a:rPr>
              <a:t>Bharat Dues • 2026-04-16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11480"/>
            <a:ext cx="11704320" cy="777240"/>
          </a:xfrm>
          <a:prstGeom prst="rect">
            <a:avLst/>
          </a:prstGeom>
          <a:solidFill>
            <a:srgbClr val="1A1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600">
                <a:solidFill>
                  <a:srgbClr val="FFFFFF"/>
                </a:solidFill>
                <a:latin typeface="Aptos"/>
              </a:rPr>
              <a:t>Groups and members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Create a group with a name and members (contacts/guests supported)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Members are stored with identifiers (UID and/or phone) for reliable lookup and access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Group membership enables real-time collaboration: any member can add expenses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0" sz="1400">
                <a:solidFill>
                  <a:srgbClr val="C7C7C7"/>
                </a:solidFill>
                <a:latin typeface="Aptos"/>
              </a:rPr>
              <a:t>Core group model: `groups/{groupId}` with `members`, `memberIds`, `memberIdentifiers`.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320040"/>
            <a:ext cx="594360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4652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0" sz="1200">
                <a:solidFill>
                  <a:srgbClr val="C7C7C7"/>
                </a:solidFill>
                <a:latin typeface="Aptos"/>
              </a:rPr>
              <a:t>Bharat Dues • 2026-04-16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11480"/>
            <a:ext cx="11704320" cy="777240"/>
          </a:xfrm>
          <a:prstGeom prst="rect">
            <a:avLst/>
          </a:prstGeom>
          <a:solidFill>
            <a:srgbClr val="1A1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600">
                <a:solidFill>
                  <a:srgbClr val="FFFFFF"/>
                </a:solidFill>
                <a:latin typeface="Aptos"/>
              </a:rPr>
              <a:t>Add an expense (the heart of the app)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Enter description, amount, and who paid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Split modes include equal split and exact/custom splits (additional modes exist in helper logic)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Category is auto-detected from description but can be manually overridden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Expense instantly updates group balances for all members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0" sz="1400">
                <a:solidFill>
                  <a:srgbClr val="C7C7C7"/>
                </a:solidFill>
                <a:latin typeface="Aptos"/>
              </a:rPr>
              <a:t>Expense modal + category detection live in `lib/screens/group_settlement_screen.dart`.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320040"/>
            <a:ext cx="594360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4652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0" sz="1200">
                <a:solidFill>
                  <a:srgbClr val="C7C7C7"/>
                </a:solidFill>
                <a:latin typeface="Aptos"/>
              </a:rPr>
              <a:t>Bharat Dues • 2026-04-16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11480"/>
            <a:ext cx="11704320" cy="777240"/>
          </a:xfrm>
          <a:prstGeom prst="rect">
            <a:avLst/>
          </a:prstGeom>
          <a:solidFill>
            <a:srgbClr val="1A1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600">
                <a:solidFill>
                  <a:srgbClr val="FFFFFF"/>
                </a:solidFill>
                <a:latin typeface="Aptos"/>
              </a:rPr>
              <a:t>Balances and “Simplify Debts”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For each member: Positive balance = they should receive money; Negative = they owe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The app can simplify the settlement into the minimum set of transfers (greedy matching)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Confirmed settlements reduce debts; pending/disputed do not change balances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0" sz="1400">
                <a:solidFill>
                  <a:srgbClr val="C7C7C7"/>
                </a:solidFill>
                <a:latin typeface="Aptos"/>
              </a:rPr>
              <a:t>See `computeMemberBalances()` + `_settleBalances()` in `lib/utils/settlement_helper.dart`.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320040"/>
            <a:ext cx="594360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4652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0" sz="1200">
                <a:solidFill>
                  <a:srgbClr val="C7C7C7"/>
                </a:solidFill>
                <a:latin typeface="Aptos"/>
              </a:rPr>
              <a:t>Bharat Dues • 2026-04-16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11480"/>
            <a:ext cx="11704320" cy="777240"/>
          </a:xfrm>
          <a:prstGeom prst="rect">
            <a:avLst/>
          </a:prstGeom>
          <a:solidFill>
            <a:srgbClr val="1A1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600">
                <a:solidFill>
                  <a:srgbClr val="FFFFFF"/>
                </a:solidFill>
                <a:latin typeface="Aptos"/>
              </a:rPr>
              <a:t>Settle Up (UPI-first flow)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Shows recommended transfers (A pays B ₹X) based on simplified transactions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If receiver has a UPI ID: generate a UPI deep-link + QR code and pay via any UPI app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After paying, the app asks for confirmation (since UPI apps don’t return status callbacks)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Payments are recorded as Pending and only update balances once the receiver confirms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If no UPI ID is available: record a manual payment and reconcile later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0" sz="1400">
                <a:solidFill>
                  <a:srgbClr val="C7C7C7"/>
                </a:solidFill>
                <a:latin typeface="Aptos"/>
              </a:rPr>
              <a:t>UPI deep link: `lib/utils/upi_helper.dart`; settle UI: `lib/screens/group_settlement_screen.dart`.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320040"/>
            <a:ext cx="594360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4652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0" sz="1200">
                <a:solidFill>
                  <a:srgbClr val="C7C7C7"/>
                </a:solidFill>
                <a:latin typeface="Aptos"/>
              </a:rPr>
              <a:t>Bharat Dues • 2026-04-16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11480"/>
            <a:ext cx="11704320" cy="777240"/>
          </a:xfrm>
          <a:prstGeom prst="rect">
            <a:avLst/>
          </a:prstGeom>
          <a:solidFill>
            <a:srgbClr val="1A1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600">
                <a:solidFill>
                  <a:srgbClr val="FFFFFF"/>
                </a:solidFill>
                <a:latin typeface="Aptos"/>
              </a:rPr>
              <a:t>Analytics and history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Category-wise spending breakdown for the group (bar-style list)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Activity feed merges expenses + settlements chronologically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Search expenses inside a group for quick audits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0" sz="1400">
                <a:solidFill>
                  <a:srgbClr val="C7C7C7"/>
                </a:solidFill>
                <a:latin typeface="Aptos"/>
              </a:rPr>
              <a:t>Analytics sheet is implemented as `_AnalyticsSheet` in `lib/screens/group_settlement_screen.dart`.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320040"/>
            <a:ext cx="594360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4652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0" sz="1200">
                <a:solidFill>
                  <a:srgbClr val="C7C7C7"/>
                </a:solidFill>
                <a:latin typeface="Aptos"/>
              </a:rPr>
              <a:t>Bharat Dues • 2026-04-16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11480"/>
            <a:ext cx="11704320" cy="777240"/>
          </a:xfrm>
          <a:prstGeom prst="rect">
            <a:avLst/>
          </a:prstGeom>
          <a:solidFill>
            <a:srgbClr val="1A1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600">
                <a:solidFill>
                  <a:srgbClr val="FFFFFF"/>
                </a:solidFill>
                <a:latin typeface="Aptos"/>
              </a:rPr>
              <a:t>Built for stability and financial integrity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Profile guard: if user profile is missing, onboarding is forced to restore integrity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Balance locks: prevents destructive actions until balances reach ₹0 (where configured)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Soft delete for groups (Undo support) to avoid accidental data loss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Firestore streams for real-time sync and consistent UI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0" sz="1400">
                <a:solidFill>
                  <a:srgbClr val="C7C7C7"/>
                </a:solidFill>
                <a:latin typeface="Aptos"/>
              </a:rPr>
              <a:t>See `lib/screens/app_shell.dart`, `lib/providers/app_state.dart`.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320040"/>
            <a:ext cx="594360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4652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0" sz="1200">
                <a:solidFill>
                  <a:srgbClr val="C7C7C7"/>
                </a:solidFill>
                <a:latin typeface="Aptos"/>
              </a:rPr>
              <a:t>Bharat Dues • 2026-04-16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11480"/>
            <a:ext cx="11704320" cy="777240"/>
          </a:xfrm>
          <a:prstGeom prst="rect">
            <a:avLst/>
          </a:prstGeom>
          <a:solidFill>
            <a:srgbClr val="1A1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600">
                <a:solidFill>
                  <a:srgbClr val="FFFFFF"/>
                </a:solidFill>
                <a:latin typeface="Aptos"/>
              </a:rPr>
              <a:t>Tech stack &amp; integrations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Flutter (Material 3) UI with Provider state management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Firebase: Authentication, Firestore (shared-ledger), Cloud Messaging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UPI deep-linking and QR generation for settlements</a:t>
            </a:r>
          </a:p>
          <a:p>
            <a:pPr>
              <a:spcAft>
                <a:spcPts val="800"/>
              </a:spcAft>
            </a:pPr>
            <a:r>
              <a:rPr b="0" sz="2200">
                <a:solidFill>
                  <a:srgbClr val="FFFFFF"/>
                </a:solidFill>
                <a:latin typeface="Aptos"/>
              </a:rPr>
              <a:t>Sharing and reminders: Share sheet and WhatsApp deep-linking (when available)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0" sz="1400">
                <a:solidFill>
                  <a:srgbClr val="C7C7C7"/>
                </a:solidFill>
                <a:latin typeface="Aptos"/>
              </a:rPr>
              <a:t>Dependencies are listed in `pubspec.yaml`.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